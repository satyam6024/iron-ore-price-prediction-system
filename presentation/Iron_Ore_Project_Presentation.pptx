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End-to-End Iron Ore Price Forecasting and MLOps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Problem: forecast iron ore prices under regime changes and market turbulence</a:t>
            </a:r>
          </a:p>
          <a:p>
            <a:pPr>
              <a:spcAft>
                <a:spcPts val="1000"/>
              </a:spcAft>
              <a:defRPr sz="1700"/>
            </a:pPr>
            <a:r>
              <a:t>Scope: production ML pipeline plus research-aligned benchmarking</a:t>
            </a:r>
          </a:p>
          <a:p>
            <a:pPr>
              <a:spcAft>
                <a:spcPts val="1000"/>
              </a:spcAft>
              <a:defRPr sz="1700"/>
            </a:pPr>
            <a:r>
              <a:t>Stack: DVC, MLflow, FastAPI, Docker, Jupyter notebooks</a:t>
            </a:r>
          </a:p>
        </p:txBody>
      </p:sp>
      <p:pic>
        <p:nvPicPr>
          <p:cNvPr id="4" name="Picture 3" descr="09_mlop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2231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Iron Ore 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2,264 trading-day records from 2016-01-04 to 2024-12-31</a:t>
            </a:r>
          </a:p>
          <a:p>
            <a:pPr>
              <a:spcAft>
                <a:spcPts val="1000"/>
              </a:spcAft>
              <a:defRPr sz="1700"/>
            </a:pPr>
            <a:r>
              <a:t>Core variables: Price, Open, High, Low, Volume, Change %</a:t>
            </a:r>
          </a:p>
          <a:p>
            <a:pPr>
              <a:spcAft>
                <a:spcPts val="1000"/>
              </a:spcAft>
              <a:defRPr sz="1700"/>
            </a:pPr>
            <a:r>
              <a:t>Series shows trends, reversals, and volatility bursts</a:t>
            </a:r>
          </a:p>
          <a:p>
            <a:pPr>
              <a:spcAft>
                <a:spcPts val="1000"/>
              </a:spcAft>
              <a:defRPr sz="1700"/>
            </a:pPr>
            <a:r>
              <a:t>Static forecasting assumptions are not reliable here</a:t>
            </a:r>
          </a:p>
        </p:txBody>
      </p:sp>
      <p:pic>
        <p:nvPicPr>
          <p:cNvPr id="4" name="Picture 3" descr="01_market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305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Data Ingestion, Cleaning, and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Raw CSV is ingested into a DVC-tracked artifact</a:t>
            </a:r>
          </a:p>
          <a:p>
            <a:pPr>
              <a:spcAft>
                <a:spcPts val="1000"/>
              </a:spcAft>
              <a:defRPr sz="1700"/>
            </a:pPr>
            <a:r>
              <a:t>Cleaning standardizes schema, parses dates, and converts numeric fields</a:t>
            </a:r>
          </a:p>
          <a:p>
            <a:pPr>
              <a:spcAft>
                <a:spcPts val="1000"/>
              </a:spcAft>
              <a:defRPr sz="1700"/>
            </a:pPr>
            <a:r>
              <a:t>Volume and percentage columns are normalized for modeling</a:t>
            </a:r>
          </a:p>
          <a:p>
            <a:pPr>
              <a:spcAft>
                <a:spcPts val="1000"/>
              </a:spcAft>
              <a:defRPr sz="1700"/>
            </a:pPr>
            <a:r>
              <a:t>EDA checks seasonality, volatility, and feature relationships</a:t>
            </a:r>
          </a:p>
        </p:txBody>
      </p:sp>
      <p:pic>
        <p:nvPicPr>
          <p:cNvPr id="4" name="Picture 3" descr="03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2659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Volatility and Conditional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Returns are unstable across time and cluster during turbulent periods</a:t>
            </a:r>
          </a:p>
          <a:p>
            <a:pPr>
              <a:spcAft>
                <a:spcPts val="1000"/>
              </a:spcAft>
              <a:defRPr sz="1700"/>
            </a:pPr>
            <a:r>
              <a:t>Research workflow tracks a 14-day rolling volatility proxy</a:t>
            </a:r>
          </a:p>
          <a:p>
            <a:pPr>
              <a:spcAft>
                <a:spcPts val="1000"/>
              </a:spcAft>
              <a:defRPr sz="1700"/>
            </a:pPr>
            <a:r>
              <a:t>A 75th percentile threshold separates high- and low-volatility regimes</a:t>
            </a:r>
          </a:p>
          <a:p>
            <a:pPr>
              <a:spcAft>
                <a:spcPts val="1000"/>
              </a:spcAft>
              <a:defRPr sz="1700"/>
            </a:pPr>
            <a:r>
              <a:t>EWMA variance error quantifies conditional-variance mismatch</a:t>
            </a:r>
          </a:p>
        </p:txBody>
      </p:sp>
      <p:pic>
        <p:nvPicPr>
          <p:cNvPr id="4" name="Picture 3" descr="02_volatility_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3914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Linear Models Under Turbulence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After correcting to rolling one-step evaluation, ARIMA and Holt-Winters remain strong baselines</a:t>
            </a:r>
          </a:p>
          <a:p>
            <a:pPr>
              <a:spcAft>
                <a:spcPts val="1000"/>
              </a:spcAft>
              <a:defRPr sz="1700"/>
            </a:pPr>
            <a:r>
              <a:t>ARIMA RMSE: 1.862 and Holt-Winters RMSE: 1.860 on the research benchmark</a:t>
            </a:r>
          </a:p>
          <a:p>
            <a:pPr>
              <a:spcAft>
                <a:spcPts val="1000"/>
              </a:spcAft>
              <a:defRPr sz="1700"/>
            </a:pPr>
            <a:r>
              <a:t>Their high-volatility RMSE still stays above 3.18, where turbulence exposes the limits of linear structure</a:t>
            </a:r>
          </a:p>
          <a:p>
            <a:pPr>
              <a:spcAft>
                <a:spcPts val="1000"/>
              </a:spcAft>
              <a:defRPr sz="1700"/>
            </a:pPr>
            <a:r>
              <a:t>This supports residual hybridization rather than discarding statistical models entirely</a:t>
            </a:r>
          </a:p>
        </p:txBody>
      </p:sp>
      <p:pic>
        <p:nvPicPr>
          <p:cNvPr id="4" name="Picture 3" descr="06_research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25665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Machine Learning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/>
            </a:pPr>
            <a:r>
              <a:t>SVR formulates nonlinear forecasting as a convex optimization problem in a kernel-induced high-dimensional feature space</a:t>
            </a:r>
          </a:p>
          <a:p>
            <a:pPr>
              <a:spcAft>
                <a:spcPts val="700"/>
              </a:spcAft>
              <a:defRPr sz="1550"/>
            </a:pPr>
            <a:r>
              <a:t>SVR accuracy depends on epsilon-insensitive regularization, kernel choice, hyperparameter calibration, and lag-feature design</a:t>
            </a:r>
          </a:p>
          <a:p>
            <a:pPr>
              <a:spcAft>
                <a:spcPts val="700"/>
              </a:spcAft>
              <a:defRPr sz="1550"/>
            </a:pPr>
            <a:r>
              <a:t>Random Forest and Gradient Boosting reduce variance via feature subsampling, bootstrap aggregation, and sequential tree refinement</a:t>
            </a:r>
          </a:p>
          <a:p>
            <a:pPr>
              <a:spcAft>
                <a:spcPts val="700"/>
              </a:spcAft>
              <a:defRPr sz="1550"/>
            </a:pPr>
            <a:r>
              <a:t>Core limitation: these models do not natively preserve ordered temporal memory without explicit lag engineering</a:t>
            </a:r>
          </a:p>
          <a:p>
            <a:pPr>
              <a:spcAft>
                <a:spcPts val="700"/>
              </a:spcAft>
              <a:defRPr sz="1550"/>
            </a:pPr>
            <a:r>
              <a:t>SVR is the strongest pure ML model at RMSE 1.9082, but Hybrid ARIMA + LSTM improves further to 1.8576</a:t>
            </a:r>
          </a:p>
        </p:txBody>
      </p:sp>
      <p:pic>
        <p:nvPicPr>
          <p:cNvPr id="4" name="Picture 3" descr="13_m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28909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Deep Learning for Sequence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LSTM models internalize sequential state dynamics instead of relying only on handcrafted lags</a:t>
            </a:r>
          </a:p>
          <a:p>
            <a:pPr>
              <a:spcAft>
                <a:spcPts val="1000"/>
              </a:spcAft>
              <a:defRPr sz="1700"/>
            </a:pPr>
            <a:r>
              <a:t>In this project, the residual LSTM stopped after 26 epochs and reached its best validation loss at epoch 14</a:t>
            </a:r>
          </a:p>
          <a:p>
            <a:pPr>
              <a:spcAft>
                <a:spcPts val="1000"/>
              </a:spcAft>
              <a:defRPr sz="1700"/>
            </a:pPr>
            <a:r>
              <a:t>The recurrent block models ARIMA residuals rather than raw price directly</a:t>
            </a:r>
          </a:p>
          <a:p>
            <a:pPr>
              <a:spcAft>
                <a:spcPts val="1000"/>
              </a:spcAft>
              <a:defRPr sz="1700"/>
            </a:pPr>
            <a:r>
              <a:t>This turns the paper's ARIMA-LSTM idea into a real benchmarked experiment in the repo</a:t>
            </a:r>
          </a:p>
        </p:txBody>
      </p:sp>
      <p:pic>
        <p:nvPicPr>
          <p:cNvPr id="4" name="Picture 3" descr="14_arima_lstm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25438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The Hybrid Ensemble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/>
            </a:pPr>
            <a:r>
              <a:t>Hybrid models assume linear and nonlinear components should be learned separately</a:t>
            </a:r>
          </a:p>
          <a:p>
            <a:pPr>
              <a:spcAft>
                <a:spcPts val="700"/>
              </a:spcAft>
              <a:defRPr sz="1550"/>
            </a:pPr>
            <a:r>
              <a:t>ARIMA provides the rolling one-step linear forecast and LSTM models the nonlinear residual structure</a:t>
            </a:r>
          </a:p>
          <a:p>
            <a:pPr>
              <a:spcAft>
                <a:spcPts val="700"/>
              </a:spcAft>
              <a:defRPr sz="1550"/>
            </a:pPr>
            <a:r>
              <a:t>Hybrid ARIMA + LSTM is the best research model with RMSE 1.8576 and R2 0.9760</a:t>
            </a:r>
          </a:p>
          <a:p>
            <a:pPr>
              <a:spcAft>
                <a:spcPts val="700"/>
              </a:spcAft>
              <a:defRPr sz="1550"/>
            </a:pPr>
            <a:r>
              <a:t>High-volatility RMSE falls to 3.1817, slightly better than ARIMA, Holt-Winters, and SVR</a:t>
            </a:r>
          </a:p>
          <a:p>
            <a:pPr>
              <a:spcAft>
                <a:spcPts val="700"/>
              </a:spcAft>
              <a:defRPr sz="1550"/>
            </a:pPr>
            <a:r>
              <a:t>The gain is small but consistent, which is typical of residual-correction hybrids</a:t>
            </a:r>
          </a:p>
        </p:txBody>
      </p:sp>
      <p:pic>
        <p:nvPicPr>
          <p:cNvPr id="4" name="Picture 3" descr="07_research_prediction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2822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Sequential Decomposition (ARIMA-LSTM) as the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Step 1: fit ARIMA on the raw series for the linear component</a:t>
            </a:r>
          </a:p>
          <a:p>
            <a:pPr>
              <a:spcAft>
                <a:spcPts val="1000"/>
              </a:spcAft>
              <a:defRPr sz="1700"/>
            </a:pPr>
            <a:r>
              <a:t>Step 2: compute residuals from ARIMA forecasts</a:t>
            </a:r>
          </a:p>
          <a:p>
            <a:pPr>
              <a:spcAft>
                <a:spcPts val="1000"/>
              </a:spcAft>
              <a:defRPr sz="1700"/>
            </a:pPr>
            <a:r>
              <a:t>Step 3: train LSTM on residual sequences for nonlinear structure</a:t>
            </a:r>
          </a:p>
          <a:p>
            <a:pPr>
              <a:spcAft>
                <a:spcPts val="1000"/>
              </a:spcAft>
              <a:defRPr sz="1700"/>
            </a:pPr>
            <a:r>
              <a:t>Step 4: combine both forecasts into the final signal</a:t>
            </a:r>
          </a:p>
        </p:txBody>
      </p:sp>
      <p:pic>
        <p:nvPicPr>
          <p:cNvPr id="4" name="Picture 3" descr="08_sequentia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20745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/>
            </a:pPr>
            <a:r>
              <a:t>Evaluation is not limited to RMSE</a:t>
            </a:r>
          </a:p>
          <a:p>
            <a:pPr>
              <a:spcAft>
                <a:spcPts val="700"/>
              </a:spcAft>
              <a:defRPr sz="1550"/>
            </a:pPr>
            <a:r>
              <a:t>Production reports RMSE, MAE, MAPE, and R2</a:t>
            </a:r>
          </a:p>
          <a:p>
            <a:pPr>
              <a:spcAft>
                <a:spcPts val="700"/>
              </a:spcAft>
              <a:defRPr sz="1550"/>
            </a:pPr>
            <a:r>
              <a:t>Research adds regime RMSE, rolling RMSE, procurement-cost proxy, and EWMA variance error</a:t>
            </a:r>
          </a:p>
          <a:p>
            <a:pPr>
              <a:spcAft>
                <a:spcPts val="700"/>
              </a:spcAft>
              <a:defRPr sz="1550"/>
            </a:pPr>
            <a:r>
              <a:t>Best research result is Hybrid ARIMA + LSTM with RMSE 1.8576 and procurement-cost proxy 2.22M</a:t>
            </a:r>
          </a:p>
          <a:p>
            <a:pPr>
              <a:spcAft>
                <a:spcPts val="700"/>
              </a:spcAft>
              <a:defRPr sz="1550"/>
            </a:pPr>
            <a:r>
              <a:t>This makes evaluation closer to business and risk reality</a:t>
            </a:r>
          </a:p>
        </p:txBody>
      </p:sp>
      <p:pic>
        <p:nvPicPr>
          <p:cNvPr id="4" name="Picture 3" descr="10_production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2661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Identified Research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Conditional variance is diagnosed but not yet modeled explicitly with GARCH-family methods</a:t>
            </a:r>
          </a:p>
          <a:p>
            <a:pPr>
              <a:spcAft>
                <a:spcPts val="1000"/>
              </a:spcAft>
              <a:defRPr sz="1700"/>
            </a:pPr>
            <a:r>
              <a:t>Structural-break detection is not yet part of the pipeline</a:t>
            </a:r>
          </a:p>
          <a:p>
            <a:pPr>
              <a:spcAft>
                <a:spcPts val="1000"/>
              </a:spcAft>
              <a:defRPr sz="1700"/>
            </a:pPr>
            <a:r>
              <a:t>ARIMA-LSTM is benchmarked, but not yet wired into production training, registry, or deployment</a:t>
            </a:r>
          </a:p>
          <a:p>
            <a:pPr>
              <a:spcAft>
                <a:spcPts val="1000"/>
              </a:spcAft>
              <a:defRPr sz="1700"/>
            </a:pPr>
            <a:r>
              <a:t>Exogenous macro or event variables are still missing</a:t>
            </a:r>
          </a:p>
        </p:txBody>
      </p:sp>
      <p:pic>
        <p:nvPicPr>
          <p:cNvPr id="4" name="Picture 3" descr="04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59429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MLOps Workflow and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DVC orchestrates ingestion, cleaning, feature engineering, selection, training, and deployment stages</a:t>
            </a:r>
          </a:p>
          <a:p>
            <a:pPr>
              <a:spcAft>
                <a:spcPts val="1000"/>
              </a:spcAft>
              <a:defRPr sz="1700"/>
            </a:pPr>
            <a:r>
              <a:t>MLflow tracks experiments and manages model lifecycle</a:t>
            </a:r>
          </a:p>
          <a:p>
            <a:pPr>
              <a:spcAft>
                <a:spcPts val="1000"/>
              </a:spcAft>
              <a:defRPr sz="1700"/>
            </a:pPr>
            <a:r>
              <a:t>Promotion gates move models across testing, staging, and production</a:t>
            </a:r>
          </a:p>
          <a:p>
            <a:pPr>
              <a:spcAft>
                <a:spcPts val="1000"/>
              </a:spcAft>
              <a:defRPr sz="1700"/>
            </a:pPr>
            <a:r>
              <a:t>FastAPI serves predictions and Docker packages the stack</a:t>
            </a:r>
          </a:p>
        </p:txBody>
      </p:sp>
      <p:pic>
        <p:nvPicPr>
          <p:cNvPr id="4" name="Picture 3" descr="09_mlop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2231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The project combines classical forecasting, machine learning, and MLOps in one workflow</a:t>
            </a:r>
          </a:p>
          <a:p>
            <a:pPr>
              <a:spcAft>
                <a:spcPts val="1000"/>
              </a:spcAft>
              <a:defRPr sz="1700"/>
            </a:pPr>
            <a:r>
              <a:t>Production pipeline delivers a strong deployable Ridge model on selected engineered features</a:t>
            </a:r>
          </a:p>
          <a:p>
            <a:pPr>
              <a:spcAft>
                <a:spcPts val="1000"/>
              </a:spcAft>
              <a:defRPr sz="1700"/>
            </a:pPr>
            <a:r>
              <a:t>Research pipeline now includes a real ARIMA + LSTM residual hybrid with volatility-aware diagnostics</a:t>
            </a:r>
          </a:p>
          <a:p>
            <a:pPr>
              <a:spcAft>
                <a:spcPts val="1000"/>
              </a:spcAft>
              <a:defRPr sz="1700"/>
            </a:pPr>
            <a:r>
              <a:t>The strongest next step is richer variance modeling and structural-break detection around that hybrid core</a:t>
            </a:r>
          </a:p>
        </p:txBody>
      </p:sp>
      <p:pic>
        <p:nvPicPr>
          <p:cNvPr id="4" name="Picture 3" descr="01_market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766560" cy="305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